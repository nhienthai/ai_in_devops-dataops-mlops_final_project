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 Nhiên · 1 min</a:t>
            </a:r>
          </a:p>
          <a:p/>
          <a:p>
            <a:r>
              <a:t>0:55. Open here. Name the topic and the one framing that carries the</a:t>
            </a:r>
          </a:p>
          <a:p>
            <a:r>
              <a:t>whole deck: the deliverable is a service, so the interesting work is what stops a bad model</a:t>
            </a:r>
          </a:p>
          <a:p>
            <a:r>
              <a:t>from reaching a user. Do not mention metrics yet.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 Nhiên · 0.75 min</a:t>
            </a:r>
          </a:p>
          <a:p/>
          <a:p>
            <a:r>
              <a:t>0:40. Ten seconds per person, no more — say the area and one thing they</a:t>
            </a:r>
          </a:p>
          <a:p>
            <a:r>
              <a:t>own. The point of the slide is the two cards: ownership is verifiable, and the seams are</a:t>
            </a:r>
          </a:p>
          <a:p>
            <a:r>
              <a:t>contracts. That is what made parallel work possible on a two-week deadline.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 Nhiên · 0.75 min</a:t>
            </a:r>
          </a:p>
          <a:p/>
          <a:p>
            <a:r>
              <a:t>0:45. Land the problem and the title's promise — "two gates" is the spine of the whole deck. No models yet.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 Thông · 1 min</a:t>
            </a:r>
          </a:p>
          <a:p/>
          <a:p>
            <a:r>
              <a:t>1:00. The most important data slide. If they remember one number from your section, it is 4%. The three cards are the payoff — say “three decisions trace back to this”.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[Architecture] Sơn · 1 min</a:t>
            </a:r>
          </a:p>
          <a:p/>
          <a:p>
            <a:r>
              <a:t>1:15. Walk the numbers 1→6, one sentence each. Do not describe boxes that carry no argument. The claim is: the registry is the only seam.</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[Architecture] Duy · 1 min</a:t>
            </a:r>
          </a:p>
          <a:p/>
          <a:p>
            <a:r>
              <a:t>0:55. The one slide that shows the whole project at once. Trace it with a finger: left to right on the top row, then the bottom row, then the red arrow back. Land two sentences — the red boxes are the only brakes, and stage 2 is honestly still manual.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[Architecture] Sơn · 0.5 min</a:t>
            </a:r>
          </a:p>
          <a:p/>
          <a:p>
            <a:r>
              <a:t>0:30. A reference slide — do not read it. Point at the two cards. Panels like knowing the numbers exist and are stated without being asked.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[Architecture] Sơn · 0.5 min</a:t>
            </a:r>
          </a:p>
          <a:p/>
          <a:p>
            <a:r>
              <a:t>0:45. Do not read the table. Pick the model row and the ruff row — one shows a risk we accepted, one shows a speed we declined. Both prove the decision was made rather than defaulted.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[Application] Thông · 0.5 min</a:t>
            </a:r>
          </a:p>
          <a:p/>
          <a:p>
            <a:r>
              <a:t>1:00. “Fails the run” is the phrase, not “validates”. If asked why not DVC: the dataset is immutable on the hub — we needed provenance, not remote storage.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[Application] Duy · 0.5 min</a:t>
            </a:r>
          </a:p>
          <a:p/>
          <a:p>
            <a:r>
              <a:t>1:00. If asked about the transformer: implemented, contract-tested by the slow suite, not promoted. Say it before they ask — slide 4 already flagged it.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[Application] Duy · 1 min</a:t>
            </a:r>
          </a:p>
          <a:p/>
          <a:p>
            <a:r>
              <a:t>1:15. The best story in the deck — tell it slowly. The transferable point: measure the thing you will deploy, not the thing you trained.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[Application] Sơn · 1 min</a:t>
            </a:r>
          </a:p>
          <a:p/>
          <a:p>
            <a:r>
              <a:t>1:15. The densest slide — walk left to right, then down. Expect “why not autoscale”: single-replica CPU is the stated target and the drift window is in-memory.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[Application] Sơn · 0.5 min</a:t>
            </a:r>
          </a:p>
          <a:p/>
          <a:p>
            <a:r>
              <a:t>0:45. Point at 2B. This answers “what happens at 3am when the promoted model is broken”, which is the question behind every rollback story.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[Application] Huỳnh · 0.5 min</a:t>
            </a:r>
          </a:p>
          <a:p/>
          <a:p>
            <a:r>
              <a:t>0:45. The fourth column is the slide. Anyone can count tests; naming what each category actually caught is what shows the suite is load-bearing.</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[Application] Huỳnh · 0.75 min</a:t>
            </a:r>
          </a:p>
          <a:p/>
          <a:p>
            <a:r>
              <a:t>0:40. Do not read the table. Point at the three severity bands, then say the last card out loud — the alerts that are firing are firing for a reason we can name, and we did not silence them to make the demo look clean.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[Application] Huỳnh · 0.75 min</a:t>
            </a:r>
          </a:p>
          <a:p/>
          <a:p>
            <a:r>
              <a:t>1:00. Volunteering the unverified alert buys credibility for the nine that are verified. Do not let it be discovered in Q&amp;A instead.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[Application] Huỳnh · 0.5 min</a:t>
            </a:r>
          </a:p>
          <a:p/>
          <a:p>
            <a:r>
              <a:t>0:45. The right-hand card is the point: we treat the toolchain as part of the system, not as somebody's laptop setup.</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[Responsible AI] Nhiên · 1.25 min</a:t>
            </a:r>
          </a:p>
          <a:p/>
          <a:p>
            <a:r>
              <a:t>1:45 — the highest-value slide. Do not rush. Then the admission: our first measurement said 0.63, because the probe used capitalised Thầy against an entirely lowercase corpus. It was measuring casing, not bias.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[Responsible AI] Nhiên · 0.75 min</a:t>
            </a:r>
          </a:p>
          <a:p/>
          <a:p>
            <a:r>
              <a:t>0:45. The refusal is the part that scores. Anyone can add SHAP; naming the use you decline is what “thoughtful ethics” means.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[Results] cả nhóm · 0.75 min</a:t>
            </a:r>
          </a:p>
          <a:p/>
          <a:p>
            <a:r>
              <a:t>0:55. The payoff slide. Lead with the table — three models, same split,</a:t>
            </a:r>
          </a:p>
          <a:p>
            <a:r>
              <a:t>one sentence each. Then the two cards, in order: what is true, then what we refuse to overclaim.</a:t>
            </a:r>
          </a:p>
          <a:p>
            <a:r>
              <a:t>Saying the second half yourself is what makes the first half believable.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[Results] cả nhóm · 0.75 min</a:t>
            </a:r>
          </a:p>
          <a:p/>
          <a:p>
            <a:r>
              <a:t>0:45. Do not skip. It pre-empts half the hostile questions, and “caught by the gate, not by review” is the sentence that proves the design works. The last two rows are the strongest — a 500-under-load bug and a silent accuracy loss, both invisible to unit tests.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 Sơn + Huỳnh · 1.5 min</a:t>
            </a:r>
          </a:p>
          <a:p/>
          <a:p>
            <a:r>
              <a:t>1:45. Rehearse until boring. If the stack misbehaves, switch to fallbacks without commentary — narrating a failure costs more time than the failure does.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cả nhóm · 0.5 min</a:t>
            </a:r>
          </a:p>
          <a:p/>
          <a:p>
            <a:r>
              <a:t>0:30. Hand to Q&amp;A. Do not summarise again — the results slide already</a:t>
            </a:r>
          </a:p>
          <a:p>
            <a:r>
              <a:t>did that. Whoever owns the area takes the question; nobody answers for someone else.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2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6858000"/>
          </a:xfrm>
          <a:prstGeom prst="rect">
            <a:avLst/>
          </a:prstGeom>
          <a:noFill/>
        </p:spPr>
        <p:txBody>
          <a:bodyPr wrap="square">
            <a:spAutoFit/>
          </a:bodyPr>
          <a:lstStyle/>
          <a:p>
            <a:r>
              <a:t>Six services,</a:t>
            </a:r>
          </a:p>
          <a:p>
            <a:r>
              <a:t>two gates.</a:t>
            </a:r>
          </a:p>
          <a:p>
            <a:pPr>
              <a:defRPr sz="1000"/>
            </a:pPr>
            <a:r>
              <a:t>DDM501 · AI in Production: From Models to Systems · Final project</a:t>
            </a:r>
          </a:p>
          <a:p>
            <a:pPr>
              <a:defRPr sz="1000"/>
            </a:pPr>
            <a:r>
              <a:t>Six services,</a:t>
            </a:r>
          </a:p>
          <a:p>
            <a:pPr>
              <a:defRPr sz="1000"/>
            </a:pPr>
            <a:r>
              <a:t>two gates.</a:t>
            </a:r>
          </a:p>
          <a:p>
            <a:pPr>
              <a:defRPr sz="1000"/>
            </a:pPr>
            <a:r>
              <a:t>Topic 8 — a Vietnamese sentiment analysis service, built and operated as a</a:t>
            </a:r>
          </a:p>
          <a:p>
            <a:pPr>
              <a:defRPr sz="1000"/>
            </a:pPr>
            <a:r>
              <a:t>production system rather than handed over as a notebook.</a:t>
            </a:r>
          </a:p>
          <a:p>
            <a:pPr>
              <a:defRPr sz="1000"/>
            </a:pPr>
            <a:r>
              <a:t>Train a model, and run it.</a:t>
            </a:r>
          </a:p>
          <a:p>
            <a:pPr>
              <a:defRPr sz="1000"/>
            </a:pPr>
            <a:r>
              <a:t>topic</a:t>
            </a:r>
          </a:p>
          <a:p>
            <a:pPr>
              <a:defRPr sz="1000"/>
            </a:pPr>
            <a:r>
              <a:t>8 — Sentiment Analysis Service</a:t>
            </a:r>
          </a:p>
          <a:p>
            <a:pPr>
              <a:defRPr sz="1000"/>
            </a:pPr>
            <a:r>
              <a:t>task</a:t>
            </a:r>
          </a:p>
          <a:p>
            <a:pPr>
              <a:defRPr sz="1000"/>
            </a:pPr>
            <a:r>
              <a:t>Vietnamese course feedback → negative · neutral · positive</a:t>
            </a:r>
          </a:p>
          <a:p>
            <a:pPr>
              <a:defRPr sz="1000"/>
            </a:pPr>
            <a:r>
              <a:t>dataset</a:t>
            </a:r>
          </a:p>
          <a:p>
            <a:pPr>
              <a:defRPr sz="1000"/>
            </a:pPr>
            <a:r>
              <a:t>tridm/UIT-VSFC — 11,426 train · 1,583 validation · 3,166 test</a:t>
            </a:r>
          </a:p>
          <a:p>
            <a:pPr>
              <a:defRPr sz="1000"/>
            </a:pPr>
            <a:r>
              <a:t>deliverable</a:t>
            </a:r>
          </a:p>
          <a:p>
            <a:pPr>
              <a:defRPr sz="1000"/>
            </a:pPr>
            <a:r>
              <a:t>A running service: HTTP contract, model registry, monitoring, CI/CD</a:t>
            </a:r>
          </a:p>
          <a:p>
            <a:pPr>
              <a:defRPr sz="1000"/>
            </a:pPr>
            <a:r>
              <a:t>team</a:t>
            </a:r>
          </a:p>
          <a:p>
            <a:pPr>
              <a:defRPr sz="1000"/>
            </a:pPr>
            <a:r>
              <a:t>5 members · 2 weeks · disjoint ownership</a:t>
            </a:r>
          </a:p>
          <a:p>
            <a:pPr>
              <a:defRPr sz="1000"/>
            </a:pPr>
            <a:r>
              <a:t>what the brief asks that a notebook cannot answer</a:t>
            </a:r>
          </a:p>
          <a:p>
            <a:pPr>
              <a:defRPr sz="1000"/>
            </a:pPr>
            <a:r>
              <a:t>Who promoted this model, and on what evidence? What happens when it degrades?</a:t>
            </a:r>
          </a:p>
          <a:p>
            <a:pPr>
              <a:defRPr sz="1000"/>
            </a:pPr>
            <a:r>
              <a:t>Can a person challenge a single prediction? Every one of those is an</a:t>
            </a:r>
          </a:p>
          <a:p>
            <a:pPr>
              <a:defRPr sz="1000"/>
            </a:pPr>
            <a:r>
              <a:t>operations question, not a modelling one.</a:t>
            </a:r>
          </a:p>
        </p:txBody>
      </p:sp>
      <p:pic>
        <p:nvPicPr>
          <p:cNvPr id="3" name="Picture 2" descr="slide-01.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6858000"/>
          </a:xfrm>
          <a:prstGeom prst="rect">
            <a:avLst/>
          </a:prstGeom>
          <a:noFill/>
        </p:spPr>
        <p:txBody>
          <a:bodyPr wrap="square">
            <a:spAutoFit/>
          </a:bodyPr>
          <a:lstStyle/>
          <a:p>
            <a:r>
              <a:t>Five areas, no shared directories</a:t>
            </a:r>
          </a:p>
          <a:p>
            <a:pPr>
              <a:defRPr sz="1000"/>
            </a:pPr>
            <a:r>
              <a:t>Team · who owns what</a:t>
            </a:r>
          </a:p>
          <a:p>
            <a:pPr>
              <a:defRPr sz="1000"/>
            </a:pPr>
            <a:r>
              <a:t>Five areas, no shared directories</a:t>
            </a:r>
          </a:p>
          <a:p>
            <a:pPr>
              <a:defRPr sz="1000"/>
            </a:pPr>
            <a:r>
              <a:t>Member · Area · Owns in the repository</a:t>
            </a:r>
          </a:p>
          <a:p>
            <a:pPr>
              <a:defRPr sz="1000"/>
            </a:pPr>
            <a:r>
              <a:t>M1 · Lý Minh Thông · Data &amp; Features · src/sentiment/data/ · tests/data/ — ingestion, the quality gate, drift reference</a:t>
            </a:r>
          </a:p>
          <a:p>
            <a:pPr>
              <a:defRPr sz="1000"/>
            </a:pPr>
            <a:r>
              <a:t>M2 · Dương Thành Duy · Training &amp; Experiments · models/ · training/ · scripts/train_model.py · validate_model.py · notebooks/</a:t>
            </a:r>
          </a:p>
          <a:p>
            <a:pPr>
              <a:defRPr sz="1000"/>
            </a:pPr>
            <a:r>
              <a:t>M3 · Bùi Vân Sơn · Serving &amp; Containers · src/sentiment/serving/ · Dockerfile · docker-compose.yml</a:t>
            </a:r>
          </a:p>
          <a:p>
            <a:pPr>
              <a:defRPr sz="1000"/>
            </a:pPr>
            <a:r>
              <a:t>M4 · Lê Công Huỳnh · Monitoring &amp; CI/CD · prometheus/ · grafana/ · alertmanager/ · .github/workflows/ · tests/integration/</a:t>
            </a:r>
          </a:p>
          <a:p>
            <a:pPr>
              <a:defRPr sz="1000"/>
            </a:pPr>
            <a:r>
              <a:t>M5 · Thái Bình Nhiên · Responsible AI &amp; Docs · src/sentiment/responsible/ · run_fairness_probe.py · docs/</a:t>
            </a:r>
          </a:p>
          <a:p>
            <a:pPr>
              <a:defRPr sz="1000"/>
            </a:pPr>
            <a:r>
              <a:t>ownership is disjoint on purpose</a:t>
            </a:r>
          </a:p>
          <a:p>
            <a:pPr>
              <a:defRPr sz="1000"/>
            </a:pPr>
            <a:r>
              <a:t>No two people own the same directory. Merge conflicts stay rare, and</a:t>
            </a:r>
          </a:p>
          <a:p>
            <a:pPr>
              <a:defRPr sz="1000"/>
            </a:pPr>
            <a:r>
              <a:t>the git history becomes the evidence of who did what — every commit</a:t>
            </a:r>
          </a:p>
          <a:p>
            <a:pPr>
              <a:defRPr sz="1000"/>
            </a:pPr>
            <a:r>
              <a:t>maps to a person by email, so nobody has to argue for their contribution.</a:t>
            </a:r>
          </a:p>
          <a:p>
            <a:pPr>
              <a:defRPr sz="1000"/>
            </a:pPr>
            <a:r>
              <a:t>the seams are contracts</a:t>
            </a:r>
          </a:p>
          <a:p>
            <a:pPr>
              <a:defRPr sz="1000"/>
            </a:pPr>
            <a:r>
              <a:t>Areas meet at interfaces, not at files: the Predictor protocol, the HTTP</a:t>
            </a:r>
          </a:p>
          <a:p>
            <a:pPr>
              <a:defRPr sz="1000"/>
            </a:pPr>
            <a:r>
              <a:t>schema, the metric names. That is why a real model could replace the stub in week 2</a:t>
            </a:r>
          </a:p>
          <a:p>
            <a:pPr>
              <a:defRPr sz="1000"/>
            </a:pPr>
            <a:r>
              <a:t>without touching four of the five areas.</a:t>
            </a:r>
          </a:p>
        </p:txBody>
      </p:sp>
      <p:pic>
        <p:nvPicPr>
          <p:cNvPr id="3" name="Picture 2" descr="slide-02.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6858000"/>
          </a:xfrm>
          <a:prstGeom prst="rect">
            <a:avLst/>
          </a:prstGeom>
          <a:noFill/>
        </p:spPr>
        <p:txBody>
          <a:bodyPr wrap="square">
            <a:spAutoFit/>
          </a:bodyPr>
          <a:lstStyle/>
          <a:p>
            <a:r>
              <a:t>Nobody reads thirty thousand comments</a:t>
            </a:r>
          </a:p>
          <a:p>
            <a:pPr>
              <a:defRPr sz="1000"/>
            </a:pPr>
            <a:r>
              <a:t>01 · Intro · the problem</a:t>
            </a:r>
          </a:p>
          <a:p>
            <a:pPr>
              <a:defRPr sz="1000"/>
            </a:pPr>
            <a:r>
              <a:t>Nobody reads thirty thousand comments</a:t>
            </a:r>
          </a:p>
          <a:p>
            <a:pPr>
              <a:defRPr sz="1000"/>
            </a:pPr>
            <a:r>
              <a:t>Vietnamese student course feedback, classified as a production system — where nothing reaches a user without passing a check that can stop the build.</a:t>
            </a:r>
          </a:p>
          <a:p>
            <a:pPr>
              <a:defRPr sz="1000"/>
            </a:pPr>
            <a:r>
              <a:t>30kcomments / semester</a:t>
            </a:r>
          </a:p>
          <a:p>
            <a:pPr>
              <a:defRPr sz="1000"/>
            </a:pPr>
            <a:r>
              <a:t>2week deadline</a:t>
            </a:r>
          </a:p>
          <a:p>
            <a:pPr>
              <a:defRPr sz="1000"/>
            </a:pPr>
            <a:r>
              <a:t>0read today</a:t>
            </a:r>
          </a:p>
          <a:p>
            <a:pPr>
              <a:defRPr sz="1000"/>
            </a:pPr>
            <a:r>
              <a:t>the actual cost</a:t>
            </a:r>
          </a:p>
          <a:p>
            <a:pPr>
              <a:defRPr sz="1000"/>
            </a:pPr>
            <a:r>
              <a:t>Keyword counting cannot separate thầy dạy hay from thầy dạy không hay. So a department finds a failing course a semester late.</a:t>
            </a:r>
          </a:p>
        </p:txBody>
      </p:sp>
      <p:pic>
        <p:nvPicPr>
          <p:cNvPr id="3" name="Picture 2" descr="slide-03.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6858000"/>
          </a:xfrm>
          <a:prstGeom prst="rect">
            <a:avLst/>
          </a:prstGeom>
          <a:noFill/>
        </p:spPr>
        <p:txBody>
          <a:bodyPr wrap="square">
            <a:spAutoFit/>
          </a:bodyPr>
          <a:lstStyle/>
          <a:p>
            <a:r>
              <a:t>One class is 4% of the corpus</a:t>
            </a:r>
          </a:p>
          <a:p>
            <a:pPr>
              <a:defRPr sz="1000"/>
            </a:pPr>
            <a:r>
              <a:t>02 · The constraint · UIT-VSFC</a:t>
            </a:r>
          </a:p>
          <a:p>
            <a:pPr>
              <a:defRPr sz="1000"/>
            </a:pPr>
            <a:r>
              <a:t>One class is 4% of the corpus</a:t>
            </a:r>
          </a:p>
          <a:p>
            <a:pPr>
              <a:defRPr sz="1000"/>
            </a:pPr>
            <a:r>
              <a:t>Not slightly under-represented — an order of magnitude smaller than the other two.</a:t>
            </a:r>
          </a:p>
          <a:p>
            <a:pPr>
              <a:defRPr sz="1000"/>
            </a:pPr>
            <a:r>
              <a:t>0.9416accuracy</a:t>
            </a:r>
          </a:p>
          <a:p>
            <a:pPr>
              <a:defRPr sz="1000"/>
            </a:pPr>
            <a:r>
              <a:t>0.6233F1 on neutral</a:t>
            </a:r>
          </a:p>
          <a:p>
            <a:pPr>
              <a:defRPr sz="1000"/>
            </a:pPr>
            <a:r>
              <a:t>Both numbers are the deployed model's, on the same 3,166-row test split. Accuracy is carried by the two large classes — negative 0.956 and positive 0.958. Macro-F1 weights neutral equally with them and lands at 0.8457, so a model can look 94% right and still be mediocre on a third of the label space.</a:t>
            </a:r>
          </a:p>
          <a:p>
            <a:pPr>
              <a:defRPr sz="1000"/>
            </a:pPr>
            <a:r>
              <a:t>consequence 1</a:t>
            </a:r>
          </a:p>
          <a:p>
            <a:pPr>
              <a:defRPr sz="1000"/>
            </a:pPr>
            <a:r>
              <a:t>The balance rule is a per-class floor, not a deviation from a 0.5 prior. A prior only exists for a balanced binary problem.</a:t>
            </a:r>
          </a:p>
          <a:p>
            <a:pPr>
              <a:defRPr sz="1000"/>
            </a:pPr>
            <a:r>
              <a:t>consequence 2</a:t>
            </a:r>
          </a:p>
          <a:p>
            <a:pPr>
              <a:defRPr sz="1000"/>
            </a:pPr>
            <a:r>
              <a:t>The tuning objective is cross-validated. One split can move macro-F1 by points on 458 rows alone.</a:t>
            </a:r>
          </a:p>
          <a:p>
            <a:pPr>
              <a:defRPr sz="1000"/>
            </a:pPr>
            <a:r>
              <a:t>consequence 3</a:t>
            </a:r>
          </a:p>
          <a:p>
            <a:pPr>
              <a:defRPr sz="1000"/>
            </a:pPr>
            <a:r>
              <a:t>The original macro-F1 ≥ 0.92 target — written for balanced binary English — was replaced with one that is reachable and justified.</a:t>
            </a:r>
          </a:p>
        </p:txBody>
      </p:sp>
      <p:pic>
        <p:nvPicPr>
          <p:cNvPr id="3" name="Picture 2" descr="slide-04.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6858000"/>
          </a:xfrm>
          <a:prstGeom prst="rect">
            <a:avLst/>
          </a:prstGeom>
          <a:noFill/>
        </p:spPr>
        <p:txBody>
          <a:bodyPr wrap="square">
            <a:spAutoFit/>
          </a:bodyPr>
          <a:lstStyle/>
          <a:p>
            <a:r>
              <a:t>Where a model comes from, and where it goes</a:t>
            </a:r>
          </a:p>
          <a:p>
            <a:pPr>
              <a:defRPr sz="1000"/>
            </a:pPr>
            <a:r>
              <a:t>03 · Deep dive · architecture</a:t>
            </a:r>
          </a:p>
          <a:p>
            <a:pPr>
              <a:defRPr sz="1000"/>
            </a:pPr>
            <a:r>
              <a:t>Where a model comes from, and where it goes</a:t>
            </a:r>
          </a:p>
          <a:p>
            <a:pPr>
              <a:defRPr sz="1000"/>
            </a:pPr>
            <a:r>
              <a:t>Training and serving meet in exactly one place: the registry. Nothing else crosses the boundary.</a:t>
            </a:r>
          </a:p>
          <a:p>
            <a:pPr>
              <a:defRPr sz="1000"/>
            </a:pPr>
            <a:r>
              <a:t>1Quality gate — raises, does not warn</a:t>
            </a:r>
          </a:p>
          <a:p>
            <a:pPr>
              <a:defRPr sz="1000"/>
            </a:pPr>
            <a:r>
              <a:t>2Fingerprint — sha256 of the rows, in order</a:t>
            </a:r>
          </a:p>
          <a:p>
            <a:pPr>
              <a:defRPr sz="1000"/>
            </a:pPr>
            <a:r>
              <a:t>3Tuning — 10 nested runs, CV objective</a:t>
            </a:r>
          </a:p>
          <a:p>
            <a:pPr>
              <a:defRPr sz="1000"/>
            </a:pPr>
            <a:r>
              <a:t>4Promotion gate — F1, accuracy, latency, fairness</a:t>
            </a:r>
          </a:p>
          <a:p>
            <a:pPr>
              <a:defRPr sz="1000"/>
            </a:pPr>
            <a:r>
              <a:t>5Bounded serving — sheds rather than queues</a:t>
            </a:r>
          </a:p>
          <a:p>
            <a:pPr>
              <a:defRPr sz="1000"/>
            </a:pPr>
            <a:r>
              <a:t>6Alerts — every rule links to a runbook</a:t>
            </a:r>
          </a:p>
        </p:txBody>
      </p:sp>
      <p:pic>
        <p:nvPicPr>
          <p:cNvPr id="3" name="Picture 2" descr="slide-05.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6858000"/>
          </a:xfrm>
          <a:prstGeom prst="rect">
            <a:avLst/>
          </a:prstGeom>
          <a:noFill/>
        </p:spPr>
        <p:txBody>
          <a:bodyPr wrap="square">
            <a:spAutoFit/>
          </a:bodyPr>
          <a:lstStyle/>
          <a:p>
            <a:r>
              <a:t>One loop, two places it can be stopped</a:t>
            </a:r>
          </a:p>
          <a:p>
            <a:pPr>
              <a:defRPr sz="1000"/>
            </a:pPr>
            <a:r>
              <a:t>04 · Architecture · lifecycle</a:t>
            </a:r>
          </a:p>
          <a:p>
            <a:pPr>
              <a:defRPr sz="1000"/>
            </a:pPr>
            <a:r>
              <a:t>One loop, two places it can be stopped</a:t>
            </a:r>
          </a:p>
          <a:p>
            <a:pPr>
              <a:defRPr sz="1000"/>
            </a:pPr>
            <a:r>
              <a:t>The two red boxes are the only places a bad model is stopped. Everything else moves it along.</a:t>
            </a:r>
          </a:p>
          <a:p>
            <a:pPr>
              <a:defRPr sz="1000"/>
            </a:pPr>
            <a:r>
              <a:t>what is automated</a:t>
            </a:r>
          </a:p>
          <a:p>
            <a:pPr>
              <a:defRPr sz="1000"/>
            </a:pPr>
            <a:r>
              <a:t>Stages 1, 3, 5–8 run without a person: the data gate on every training run, CI on every push, monitoring continuously.</a:t>
            </a:r>
          </a:p>
          <a:p>
            <a:pPr>
              <a:defRPr sz="1000"/>
            </a:pPr>
            <a:r>
              <a:t>what is still manual</a:t>
            </a:r>
          </a:p>
          <a:p>
            <a:pPr>
              <a:defRPr sz="1000"/>
            </a:pPr>
            <a:r>
              <a:t>The transformer was fine-tuned on a Kaggle GPU and imported. Stage 2 is not in CI, and we do not pretend otherwise — no runner here has a GPU.</a:t>
            </a:r>
          </a:p>
          <a:p>
            <a:pPr>
              <a:defRPr sz="1000"/>
            </a:pPr>
            <a:r>
              <a:t>why the loop closes</a:t>
            </a:r>
          </a:p>
          <a:p>
            <a:pPr>
              <a:defRPr sz="1000"/>
            </a:pPr>
            <a:r>
              <a:t>Stage 8 feeds stage 2: drift and skew alerts are the trigger to retrain, which is what makes this a lifecycle rather than a one-way delivery.</a:t>
            </a:r>
          </a:p>
        </p:txBody>
      </p:sp>
      <p:pic>
        <p:nvPicPr>
          <p:cNvPr id="3" name="Picture 2" descr="slide-06.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6858000"/>
          </a:xfrm>
          <a:prstGeom prst="rect">
            <a:avLst/>
          </a:prstGeom>
          <a:noFill/>
        </p:spPr>
        <p:txBody>
          <a:bodyPr wrap="square">
            <a:spAutoFit/>
          </a:bodyPr>
          <a:lstStyle/>
          <a:p>
            <a:r>
              <a:t>The system, in numbers</a:t>
            </a:r>
          </a:p>
          <a:p>
            <a:pPr>
              <a:defRPr sz="1000"/>
            </a:pPr>
            <a:r>
              <a:t>05 · Deep dive · specification</a:t>
            </a:r>
          </a:p>
          <a:p>
            <a:pPr>
              <a:defRPr sz="1000"/>
            </a:pPr>
            <a:r>
              <a:t>The system, in numbers</a:t>
            </a:r>
          </a:p>
          <a:p>
            <a:pPr>
              <a:defRPr sz="1000"/>
            </a:pPr>
            <a:r>
              <a:t>services</a:t>
            </a:r>
          </a:p>
          <a:p>
            <a:pPr>
              <a:defRPr sz="1000"/>
            </a:pPr>
            <a:r>
              <a:t>6 — api · postgres · mlflow · prometheus · alertmanager · grafana, every one with a health check</a:t>
            </a:r>
          </a:p>
          <a:p>
            <a:pPr>
              <a:defRPr sz="1000"/>
            </a:pPr>
            <a:r>
              <a:t>api</a:t>
            </a:r>
          </a:p>
          <a:p>
            <a:pPr>
              <a:defRPr sz="1000"/>
            </a:pPr>
            <a:r>
              <a:t>FastAPI + uvicorn, versioned at /api/v1, OpenAPI 3.1 with examples on 12/12 schemas</a:t>
            </a:r>
          </a:p>
          <a:p>
            <a:pPr>
              <a:defRPr sz="1000"/>
            </a:pPr>
            <a:r>
              <a:t>model</a:t>
            </a:r>
          </a:p>
          <a:p>
            <a:pPr>
              <a:defRPr sz="1000"/>
            </a:pPr>
            <a:r>
              <a:t>PhoBERT-v2 fine-tuned on UIT-VSFC, served from disk, registry version 5, stage Production</a:t>
            </a:r>
          </a:p>
          <a:p>
            <a:pPr>
              <a:defRPr sz="1000"/>
            </a:pPr>
            <a:r>
              <a:t>limits</a:t>
            </a:r>
          </a:p>
          <a:p>
            <a:pPr>
              <a:defRPr sz="1000"/>
            </a:pPr>
            <a:r>
              <a:t>batch 64 · text 5,000 chars · body 1 MB · 2 concurrent inferences · 1 concurrent explanation</a:t>
            </a:r>
          </a:p>
          <a:p>
            <a:pPr>
              <a:defRPr sz="1000"/>
            </a:pPr>
            <a:r>
              <a:t>budgets</a:t>
            </a:r>
          </a:p>
          <a:p>
            <a:pPr>
              <a:defRPr sz="1000"/>
            </a:pPr>
            <a:r>
              <a:t>queue 1s · inference 30s · explanation 60s · p95 target 200 ms, measured 98 ms over 150 requests</a:t>
            </a:r>
          </a:p>
          <a:p>
            <a:pPr>
              <a:defRPr sz="1000"/>
            </a:pPr>
            <a:r>
              <a:t>image</a:t>
            </a:r>
          </a:p>
          <a:p>
            <a:pPr>
              <a:defRPr sz="1000"/>
            </a:pPr>
            <a:r>
              <a:t>multi-stage, non-root UID 1000, base pinned by digest, no pip in the runtime layer</a:t>
            </a:r>
          </a:p>
          <a:p>
            <a:pPr>
              <a:defRPr sz="1000"/>
            </a:pPr>
            <a:r>
              <a:t>20metrics</a:t>
            </a:r>
          </a:p>
          <a:p>
            <a:pPr>
              <a:defRPr sz="1000"/>
            </a:pPr>
            <a:r>
              <a:t>10alerts</a:t>
            </a:r>
          </a:p>
          <a:p>
            <a:pPr>
              <a:defRPr sz="1000"/>
            </a:pPr>
            <a:r>
              <a:t>3dashboards</a:t>
            </a:r>
          </a:p>
          <a:p>
            <a:pPr>
              <a:defRPr sz="1000"/>
            </a:pPr>
            <a:r>
              <a:t>202tests</a:t>
            </a:r>
          </a:p>
          <a:p>
            <a:pPr>
              <a:defRPr sz="1000"/>
            </a:pPr>
            <a:r>
              <a:t>the boundary that paid off</a:t>
            </a:r>
          </a:p>
          <a:p>
            <a:pPr>
              <a:defRPr sz="1000"/>
            </a:pPr>
            <a:r>
              <a:t>All six services were integrated in week 1 against a stub model. Swapping in a real model later touched the predictor factory and nothing else — the HTTP contract, the metrics and the tests did not move.</a:t>
            </a:r>
          </a:p>
          <a:p>
            <a:pPr>
              <a:defRPr sz="1000"/>
            </a:pPr>
            <a:r>
              <a:t>what is not built</a:t>
            </a:r>
          </a:p>
          <a:p>
            <a:pPr>
              <a:defRPr sz="1000"/>
            </a:pPr>
            <a:r>
              <a:t>Registry-served weights. The transformers are mounted from disk, not downloaded from MLflow — the registry holds their lineage and a pointer, not 500 MB of tensors. And the deployed model ships no drift reference, so DriftDetected currently fires on a placeholder baseline.</a:t>
            </a:r>
          </a:p>
        </p:txBody>
      </p:sp>
      <p:pic>
        <p:nvPicPr>
          <p:cNvPr id="3" name="Picture 2" descr="slide-07.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6858000"/>
          </a:xfrm>
          <a:prstGeom prst="rect">
            <a:avLst/>
          </a:prstGeom>
          <a:noFill/>
        </p:spPr>
        <p:txBody>
          <a:bodyPr wrap="square">
            <a:spAutoFit/>
          </a:bodyPr>
          <a:lstStyle/>
          <a:p>
            <a:r>
              <a:t>What we chose, and what we gave up</a:t>
            </a:r>
          </a:p>
          <a:p>
            <a:pPr>
              <a:defRPr sz="1000"/>
            </a:pPr>
            <a:r>
              <a:t>06 · Deep dive · decisions</a:t>
            </a:r>
          </a:p>
          <a:p>
            <a:pPr>
              <a:defRPr sz="1000"/>
            </a:pPr>
            <a:r>
              <a:t>What we chose, and what we gave up</a:t>
            </a:r>
          </a:p>
          <a:p>
            <a:pPr>
              <a:defRPr sz="1000"/>
            </a:pPr>
            <a:r>
              <a:t>Decision · Chosen · Rejected · What it cost us</a:t>
            </a:r>
          </a:p>
          <a:p>
            <a:pPr>
              <a:defRPr sz="1000"/>
            </a:pPr>
            <a:r>
              <a:t>Model · PhoBERT-v2 · XLM-RoBERTa · DistilBERT · TF-IDF · DistilBERT is English-only. We fine-tuned XLM-R first and PhoBERT second, then measured both on the same split: 0.8457 vs 0.8337 macro-F1, and PhoBERT is half the size. The multilingual claim is what we gave up. The 200 ms budget survived: p95 98 ms on two CPUs.</a:t>
            </a:r>
          </a:p>
          <a:p>
            <a:pPr>
              <a:defRPr sz="1000"/>
            </a:pPr>
            <a:r>
              <a:t>Drift measure · PSI on input length · KS test · KL · Evidently · PSI has a conventional reading (&lt;0.1 / 0.1–0.2 / &gt;0.2), so the threshold is arguable rather than invented. It is coarser than KS.</a:t>
            </a:r>
          </a:p>
          <a:p>
            <a:pPr>
              <a:defRPr sz="1000"/>
            </a:pPr>
            <a:r>
              <a:t>Fairness method · Identity-pair probe (EEC) · Group-wise metrics · Fairlearn · The corpus has no demographic columns, so group metrics are impossible. The probe measures the model, not the population — a real limitation.</a:t>
            </a:r>
          </a:p>
          <a:p>
            <a:pPr>
              <a:defRPr sz="1000"/>
            </a:pPr>
            <a:r>
              <a:t>Metrics · In-process prometheus_client · Sidecar exporter · StatsD · Drift and confidence are functions of the prediction, so a sidecar would mean shipping predictions to a second process. Cost: the API owns its own instrumentation.</a:t>
            </a:r>
          </a:p>
          <a:p>
            <a:pPr>
              <a:defRPr sz="1000"/>
            </a:pPr>
            <a:r>
              <a:t>Lint chain · flake8 + black + isort, pinned · ruff · ruff replaces all three and is far faster. We took consistency with the graded labs over speed, and pinned versions so a release cannot redden the build.</a:t>
            </a:r>
          </a:p>
          <a:p>
            <a:pPr>
              <a:defRPr sz="1000"/>
            </a:pPr>
            <a:r>
              <a:t>Orchestration · Docker Compose · Kubernetes · Required by the brief and right for one laptop. No horizontal scaling — the drift window is in-memory, and we document that rather than engineer around it.</a:t>
            </a:r>
          </a:p>
          <a:p>
            <a:pPr>
              <a:defRPr sz="1000"/>
            </a:pPr>
            <a:r>
              <a:t>The row that matters is the first. We changed the model family after the spec was written, and the latency budget it was written for no longer applies. That is stated here rather than discovered by a grader in ARCHITECTURE.md.</a:t>
            </a:r>
          </a:p>
        </p:txBody>
      </p:sp>
      <p:pic>
        <p:nvPicPr>
          <p:cNvPr id="3" name="Picture 2" descr="slide-08.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6858000"/>
          </a:xfrm>
          <a:prstGeom prst="rect">
            <a:avLst/>
          </a:prstGeom>
          <a:noFill/>
        </p:spPr>
        <p:txBody>
          <a:bodyPr wrap="square">
            <a:spAutoFit/>
          </a:bodyPr>
          <a:lstStyle/>
          <a:p>
            <a:r>
              <a:t>The gate fails the run, it does not warn</a:t>
            </a:r>
          </a:p>
          <a:p>
            <a:pPr>
              <a:defRPr sz="1000"/>
            </a:pPr>
            <a:r>
              <a:t>07 · Deep dive · gate one</a:t>
            </a:r>
          </a:p>
          <a:p>
            <a:pPr>
              <a:defRPr sz="1000"/>
            </a:pPr>
            <a:r>
              <a:t>The gate fails the run, it does not warn</a:t>
            </a:r>
          </a:p>
          <a:p>
            <a:pPr>
              <a:defRPr sz="1000"/>
            </a:pPr>
            <a:r>
              <a:t>Check · Rejects · Threshold</a:t>
            </a:r>
          </a:p>
          <a:p>
            <a:pPr>
              <a:defRPr sz="1000"/>
            </a:pPr>
            <a:r>
              <a:t>schema · a missing label or text column · exact</a:t>
            </a:r>
          </a:p>
          <a:p>
            <a:pPr>
              <a:defRPr sz="1000"/>
            </a:pPr>
            <a:r>
              <a:t>empty text · whitespace-only rows above tolerance · 0%</a:t>
            </a:r>
          </a:p>
          <a:p>
            <a:pPr>
              <a:defRPr sz="1000"/>
            </a:pPr>
            <a:r>
              <a:t>duplicates · copy-paste inflation of one opinion · ≤ 5%</a:t>
            </a:r>
          </a:p>
          <a:p>
            <a:pPr>
              <a:defRPr sz="1000"/>
            </a:pPr>
            <a:r>
              <a:t>class presence · a class that vanished from a split · 3 of 3</a:t>
            </a:r>
          </a:p>
          <a:p>
            <a:pPr>
              <a:defRPr sz="1000"/>
            </a:pPr>
            <a:r>
              <a:t>rarest share · a split that cannot score its minority class · ≥ 2%</a:t>
            </a:r>
          </a:p>
          <a:p>
            <a:pPr>
              <a:defRPr sz="1000"/>
            </a:pPr>
            <a:r>
              <a:t>why 2% and not a prior</a:t>
            </a:r>
          </a:p>
          <a:p>
            <a:pPr>
              <a:defRPr sz="1000"/>
            </a:pPr>
            <a:r>
              <a:t>The rule used to be “positive ratio within 0.1 of 0.5” — correct for balanced binary, guaranteed to fail every healthy run here. 2% sits under the observed 4.0 / 4.6 / 5.3% and far above zero.</a:t>
            </a:r>
          </a:p>
          <a:p>
            <a:pPr>
              <a:defRPr sz="1000"/>
            </a:pPr>
            <a:r>
              <a:t>it was broken, and we found it</a:t>
            </a:r>
          </a:p>
          <a:p>
            <a:pPr>
              <a:defRPr sz="1000"/>
            </a:pPr>
            <a:r>
              <a:t>Training used to call load_dataset() directly, so this gate guarded data nobody trained on. Training now has one entrance, and a Settings validator raises if the data and training layers ever name different datasets.</a:t>
            </a:r>
          </a:p>
          <a:p>
            <a:pPr>
              <a:defRPr sz="1000"/>
            </a:pPr>
            <a:r>
              <a:t>$ python scripts/train_model.py</a:t>
            </a:r>
          </a:p>
          <a:p>
            <a:pPr>
              <a:defRPr sz="1000"/>
            </a:pPr>
            <a:r>
              <a:t>train 11426 rows · classes [0,1,2] · rarest 0.0401</a:t>
            </a:r>
          </a:p>
          <a:p>
            <a:pPr>
              <a:defRPr sz="1000"/>
            </a:pPr>
            <a:r>
              <a:t>validation 1583 rows · rarest 0.0461</a:t>
            </a:r>
          </a:p>
          <a:p>
            <a:pPr>
              <a:defRPr sz="1000"/>
            </a:pPr>
            <a:r>
              <a:t>test 3166 rows · rarest 0.0527</a:t>
            </a:r>
          </a:p>
          <a:p>
            <a:pPr>
              <a:defRPr sz="1000"/>
            </a:pPr>
            <a:r>
              <a:t>sha256 006759bf5ccc43dc… → logged to MLflow</a:t>
            </a:r>
          </a:p>
          <a:p>
            <a:pPr>
              <a:defRPr sz="1000"/>
            </a:pPr>
            <a:r>
              <a:t>The fingerprint is over the rows in order, with delimiters — so reordering changes it, and two different datasets that concatenate to the same bytes do not collide. Both have tests.</a:t>
            </a:r>
          </a:p>
          <a:p>
            <a:pPr>
              <a:defRPr sz="1000"/>
            </a:pPr>
            <a:r>
              <a:t>It answers a question you otherwise cannot: did these two runs see the same data?</a:t>
            </a:r>
          </a:p>
        </p:txBody>
      </p:sp>
      <p:pic>
        <p:nvPicPr>
          <p:cNvPr id="3" name="Picture 2" descr="slide-09.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6858000"/>
          </a:xfrm>
          <a:prstGeom prst="rect">
            <a:avLst/>
          </a:prstGeom>
          <a:noFill/>
        </p:spPr>
        <p:txBody>
          <a:bodyPr wrap="square">
            <a:spAutoFit/>
          </a:bodyPr>
          <a:lstStyle/>
          <a:p>
            <a:r>
              <a:t>The search did real work</a:t>
            </a:r>
          </a:p>
          <a:p>
            <a:pPr>
              <a:defRPr sz="1000"/>
            </a:pPr>
            <a:r>
              <a:t>08 · Deep dive · experiments</a:t>
            </a:r>
          </a:p>
          <a:p>
            <a:pPr>
              <a:defRPr sz="1000"/>
            </a:pPr>
            <a:r>
              <a:t>The search did real work</a:t>
            </a:r>
          </a:p>
          <a:p>
            <a:pPr>
              <a:defRPr sz="1000"/>
            </a:pPr>
            <a:r>
              <a:t>Best and worst labelled; the rest are context. 11 points of spread means the ranking is of configurations, not of luck.</a:t>
            </a:r>
          </a:p>
          <a:p>
            <a:pPr>
              <a:defRPr sz="1000"/>
            </a:pPr>
            <a:r>
              <a:t>best trial 0</a:t>
            </a:r>
          </a:p>
          <a:p>
            <a:pPr>
              <a:defRPr sz="1000"/>
            </a:pPr>
            <a:r>
              <a:t>ngram_range (1,2)</a:t>
            </a:r>
          </a:p>
          <a:p>
            <a:pPr>
              <a:defRPr sz="1000"/>
            </a:pPr>
            <a:r>
              <a:t>max_features 5000</a:t>
            </a:r>
          </a:p>
          <a:p>
            <a:pPr>
              <a:defRPr sz="1000"/>
            </a:pPr>
            <a:r>
              <a:t>C 0.964</a:t>
            </a:r>
          </a:p>
          <a:p>
            <a:pPr>
              <a:defRPr sz="1000"/>
            </a:pPr>
            <a:r>
              <a:t>class_weight balanced ← rediscovered</a:t>
            </a:r>
          </a:p>
          <a:p>
            <a:pPr>
              <a:defRPr sz="1000"/>
            </a:pPr>
            <a:r>
              <a:t>The sweep independently chose to weight the minority class. Nobody told it about the 4%.</a:t>
            </a:r>
          </a:p>
          <a:p>
            <a:pPr>
              <a:defRPr sz="1000"/>
            </a:pPr>
            <a:r>
              <a:t>the expensive choice</a:t>
            </a:r>
          </a:p>
          <a:p>
            <a:pPr>
              <a:defRPr sz="1000"/>
            </a:pPr>
            <a:r>
              <a:t>The objective is cross-validated, not a single held-out score. That is 3× the compute — and the only reason the ranking means anything. On one split, the trial that drew the favourable fold wins and its configuration does not reproduce.</a:t>
            </a:r>
          </a:p>
          <a:p>
            <a:pPr>
              <a:defRPr sz="1000"/>
            </a:pPr>
            <a:r>
              <a:t>what MLflow holds</a:t>
            </a:r>
          </a:p>
          <a:p>
            <a:pPr>
              <a:defRPr sz="1000"/>
            </a:pPr>
            <a:r>
              <a:t>18 runs. Each trial is a nested run under one parent, carrying its params, its cross-validated score, the dataset fingerprint, SHAP importance charts and a fairness report.</a:t>
            </a:r>
          </a:p>
        </p:txBody>
      </p:sp>
      <p:pic>
        <p:nvPicPr>
          <p:cNvPr id="3" name="Picture 2" descr="slide-10.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6858000"/>
          </a:xfrm>
          <a:prstGeom prst="rect">
            <a:avLst/>
          </a:prstGeom>
          <a:noFill/>
        </p:spPr>
        <p:txBody>
          <a:bodyPr wrap="square">
            <a:spAutoFit/>
          </a:bodyPr>
          <a:lstStyle/>
          <a:p>
            <a:r>
              <a:t>Promotion is a rule, not a decision</a:t>
            </a:r>
          </a:p>
          <a:p>
            <a:pPr>
              <a:defRPr sz="1000"/>
            </a:pPr>
            <a:r>
              <a:t>09 · Deep dive · gate two</a:t>
            </a:r>
          </a:p>
          <a:p>
            <a:pPr>
              <a:defRPr sz="1000"/>
            </a:pPr>
            <a:r>
              <a:t>Promotion is a rule, not a decision</a:t>
            </a:r>
          </a:p>
          <a:p>
            <a:pPr>
              <a:defRPr sz="1000"/>
            </a:pPr>
            <a:r>
              <a:t>Check · Threshold · Measured · · What it protects against</a:t>
            </a:r>
          </a:p>
          <a:p>
            <a:pPr>
              <a:defRPr sz="1000"/>
            </a:pPr>
            <a:r>
              <a:t>macro-F1 · ≥ 0.70 · 0.7149 · pass · a model that abandoned the minority class</a:t>
            </a:r>
          </a:p>
          <a:p>
            <a:pPr>
              <a:defRPr sz="1000"/>
            </a:pPr>
            <a:r>
              <a:t>accuracy · ≥ 0.85 · 0.8629 · pass · a model that is fair and useless</a:t>
            </a:r>
          </a:p>
          <a:p>
            <a:pPr>
              <a:defRPr sz="1000"/>
            </a:pPr>
            <a:r>
              <a:t>p95 latency · &lt; 200 ms · 0.42 ms · pass · a model too slow for the SLO</a:t>
            </a:r>
          </a:p>
          <a:p>
            <a:pPr>
              <a:defRPr sz="1000"/>
            </a:pPr>
            <a:r>
              <a:t>fairness gap · ≤ 0.10 · 0.0000 · pass · bias shipping because nobody re-measured</a:t>
            </a:r>
          </a:p>
          <a:p>
            <a:pPr>
              <a:defRPr sz="1000"/>
            </a:pPr>
            <a:r>
              <a:t>These four are the baseline's, the model this gate promoted. The PhoBERT now serving was measured on the same split — macro-F1 0.8457, and 9 ms on this table's own in-process measurement (98 ms end-to-end over HTTP) — but it was imported, not gated: it arrived as weights from a notebook, and its fairness gap has never been measured. Running the gate against it is the honest next step, and we are not claiming it passed one.</a:t>
            </a:r>
          </a:p>
          <a:p>
            <a:pPr>
              <a:defRPr sz="1000"/>
            </a:pPr>
            <a:r>
              <a:t>rollback</a:t>
            </a:r>
          </a:p>
          <a:p>
            <a:pPr>
              <a:defRPr sz="1000"/>
            </a:pPr>
            <a:r>
              <a:t>A stage transition plus a reload. No rebuild, no redeploy — which is what makes it safe enough to do under pressure at 3am.</a:t>
            </a:r>
          </a:p>
          <a:p>
            <a:pPr>
              <a:defRPr sz="1000"/>
            </a:pPr>
            <a:r>
              <a:t>The gate caught a bug that code review did not.</a:t>
            </a:r>
          </a:p>
          <a:p>
            <a:pPr>
              <a:defRPr sz="1000"/>
            </a:pPr>
            <a:r>
              <a:t>train blind_identity=True → 0.000000</a:t>
            </a:r>
          </a:p>
          <a:p>
            <a:pPr>
              <a:defRPr sz="1000"/>
            </a:pPr>
            <a:r>
              <a:t>save joblib.dump(pipeline) ← flag lost</a:t>
            </a:r>
          </a:p>
          <a:p>
            <a:pPr>
              <a:defRPr sz="1000"/>
            </a:pPr>
            <a:r>
              <a:t>load blind_identity=False → 0.079990</a:t>
            </a:r>
          </a:p>
          <a:p>
            <a:pPr>
              <a:defRPr sz="1000"/>
            </a:pPr>
            <a:r>
              <a:t>gate FAIL — refused to promote</a:t>
            </a:r>
          </a:p>
          <a:p>
            <a:pPr>
              <a:defRPr sz="1000"/>
            </a:pPr>
            <a:r>
              <a:t>A model trained with identity blinding lost the flag when it was reloaded from joblib, and kept predicting — on text it had never been fitted on. Textbook train/serve skew, and it ships silently almost everywhere.</a:t>
            </a:r>
          </a:p>
          <a:p>
            <a:pPr>
              <a:defRPr sz="1000"/>
            </a:pPr>
            <a:r>
              <a:t>It was caught because the gate re-measures the loaded artifact rather than trusting the number training reported. The flag now travels inside the artifact, and a regression test fails if it ever stops.</a:t>
            </a:r>
          </a:p>
        </p:txBody>
      </p:sp>
      <p:pic>
        <p:nvPicPr>
          <p:cNvPr id="3" name="Picture 2" descr="slide-11.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6858000"/>
          </a:xfrm>
          <a:prstGeom prst="rect">
            <a:avLst/>
          </a:prstGeom>
          <a:noFill/>
        </p:spPr>
        <p:txBody>
          <a:bodyPr wrap="square">
            <a:spAutoFit/>
          </a:bodyPr>
          <a:lstStyle/>
          <a:p>
            <a:r>
              <a:t>Three exits, and none of them block the loop</a:t>
            </a:r>
          </a:p>
          <a:p>
            <a:pPr>
              <a:defRPr sz="1000"/>
            </a:pPr>
            <a:r>
              <a:t>10 · Deep dive · serving under load</a:t>
            </a:r>
          </a:p>
          <a:p>
            <a:pPr>
              <a:defRPr sz="1000"/>
            </a:pPr>
            <a:r>
              <a:t>Three exits, and none of them block the loop</a:t>
            </a:r>
          </a:p>
          <a:p>
            <a:pPr>
              <a:defRPr sz="1000"/>
            </a:pPr>
            <a:r>
              <a:t>An unbounded queue turns an overload into a timeout for everybody. The semaphore converts it into a fast, countable refusal.</a:t>
            </a:r>
          </a:p>
          <a:p>
            <a:pPr>
              <a:defRPr sz="1000"/>
            </a:pPr>
            <a:r>
              <a:t>429, not 503</a:t>
            </a:r>
          </a:p>
          <a:p>
            <a:pPr>
              <a:defRPr sz="1000"/>
            </a:pPr>
            <a:r>
              <a:t>429 says “retry shortly” — a full pool is the service working as designed. 503 is what /ready returns when no model is loaded. Two different facts deserve two different codes.</a:t>
            </a:r>
          </a:p>
          <a:p>
            <a:pPr>
              <a:defRPr sz="1000"/>
            </a:pPr>
            <a:r>
              <a:t>/health stays 200</a:t>
            </a:r>
          </a:p>
          <a:p>
            <a:pPr>
              <a:defRPr sz="1000"/>
            </a:pPr>
            <a:r>
              <a:t>If a model fault turned liveness red, the orchestrator would restart the container in a loop while you diagnosed it — and you would lose the logs each time. The Docker HEALTHCHECK targets /ready, so a broken release is still not marked healthy.</a:t>
            </a:r>
          </a:p>
        </p:txBody>
      </p:sp>
      <p:pic>
        <p:nvPicPr>
          <p:cNvPr id="3" name="Picture 2" descr="slide-12.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6858000"/>
          </a:xfrm>
          <a:prstGeom prst="rect">
            <a:avLst/>
          </a:prstGeom>
          <a:noFill/>
        </p:spPr>
        <p:txBody>
          <a:bodyPr wrap="square">
            <a:spAutoFit/>
          </a:bodyPr>
          <a:lstStyle/>
          <a:p>
            <a:r>
              <a:t>The replacement warms before it is published</a:t>
            </a:r>
          </a:p>
          <a:p>
            <a:pPr>
              <a:defRPr sz="1000"/>
            </a:pPr>
            <a:r>
              <a:t>11 · Deep dive · atomic reload</a:t>
            </a:r>
          </a:p>
          <a:p>
            <a:pPr>
              <a:defRPr sz="1000"/>
            </a:pPr>
            <a:r>
              <a:t>The replacement warms before it is published</a:t>
            </a:r>
          </a:p>
          <a:p>
            <a:pPr>
              <a:defRPr sz="1000"/>
            </a:pPr>
            <a:r>
              <a:t>The old model is never dropped before the new one has answered a real prediction correctly.</a:t>
            </a:r>
          </a:p>
          <a:p>
            <a:pPr>
              <a:defRPr sz="1000"/>
            </a:pPr>
            <a:r>
              <a:t>A bad rollback cannot take the service down — which is what makes rollback safe enough to actually use.</a:t>
            </a:r>
          </a:p>
        </p:txBody>
      </p:sp>
      <p:pic>
        <p:nvPicPr>
          <p:cNvPr id="3" name="Picture 2" descr="slide-13.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6858000"/>
          </a:xfrm>
          <a:prstGeom prst="rect">
            <a:avLst/>
          </a:prstGeom>
          <a:noFill/>
        </p:spPr>
        <p:txBody>
          <a:bodyPr wrap="square">
            <a:spAutoFit/>
          </a:bodyPr>
          <a:lstStyle/>
          <a:p>
            <a:r>
              <a:t>Five categories, each catching what the others cannot</a:t>
            </a:r>
          </a:p>
          <a:p>
            <a:pPr>
              <a:defRPr sz="1000"/>
            </a:pPr>
            <a:r>
              <a:t>12 · Deep dive · testing</a:t>
            </a:r>
          </a:p>
          <a:p>
            <a:pPr>
              <a:defRPr sz="1000"/>
            </a:pPr>
            <a:r>
              <a:t>Five categories, each catching what the others cannot</a:t>
            </a:r>
          </a:p>
          <a:p>
            <a:pPr>
              <a:defRPr sz="1000"/>
            </a:pPr>
            <a:r>
              <a:t>Category · Tests · The question it answers · What it caught in practice</a:t>
            </a:r>
          </a:p>
          <a:p>
            <a:pPr>
              <a:defRPr sz="1000"/>
            </a:pPr>
            <a:r>
              <a:t>unit · 49 · Does this function do what its docstring says? · A blank reload token must disable the endpoint, not set an empty secret</a:t>
            </a:r>
          </a:p>
          <a:p>
            <a:pPr>
              <a:defRPr sz="1000"/>
            </a:pPr>
            <a:r>
              <a:t>data quality · 21 · Would bad data reach training? · The gate must fail a split whose rarest class collapses to 0.5%</a:t>
            </a:r>
          </a:p>
          <a:p>
            <a:pPr>
              <a:defRPr sz="1000"/>
            </a:pPr>
            <a:r>
              <a:t>model · 65 · Does the model satisfy its contract, and is it any good? · The blinding flag lost in a joblib round-trip; a tokenizer that breaks on the second thread</a:t>
            </a:r>
          </a:p>
          <a:p>
            <a:pPr>
              <a:defRPr sz="1000"/>
            </a:pPr>
            <a:r>
              <a:t>responsible AI · 35 · Do the fairness instruments measure what they claim? · A probe that returns zero for everything would look like a fair model</a:t>
            </a:r>
          </a:p>
          <a:p>
            <a:pPr>
              <a:defRPr sz="1000"/>
            </a:pPr>
            <a:r>
              <a:t>integration · 32 · Does the assembled HTTP surface behave end to end? · Unicode and emoji survive the round trip; a bad batch item is isolated; a second explanation is shed rather than queued</a:t>
            </a:r>
          </a:p>
          <a:p>
            <a:pPr>
              <a:defRPr sz="1000"/>
            </a:pPr>
            <a:r>
              <a:t>91%coverage · 85% gate</a:t>
            </a:r>
          </a:p>
          <a:p>
            <a:pPr>
              <a:defRPr sz="1000"/>
            </a:pPr>
            <a:r>
              <a:t>202total</a:t>
            </a:r>
          </a:p>
          <a:p>
            <a:pPr>
              <a:defRPr sz="1000"/>
            </a:pPr>
            <a:r>
              <a:t>coverage was a lie, briefly</a:t>
            </a:r>
          </a:p>
          <a:p>
            <a:pPr>
              <a:defRPr sz="1000"/>
            </a:pPr>
            <a:r>
              <a:t>The omit list excluded data/, models/, training/ and responsible/ — so a real 91% described a quarter of the package. Narrowed to the two modules that need a GPU and a live server.</a:t>
            </a:r>
          </a:p>
          <a:p>
            <a:pPr>
              <a:defRPr sz="1000"/>
            </a:pPr>
            <a:r>
              <a:t>testing the instrument</a:t>
            </a:r>
          </a:p>
          <a:p>
            <a:pPr>
              <a:defRPr sz="1000"/>
            </a:pPr>
            <a:r>
              <a:t>The fairness probe is asserted to detect a known injected bias on the right axis and report zero for a known-fair scorer. An unchecked instrument can manufacture a result.</a:t>
            </a:r>
          </a:p>
        </p:txBody>
      </p:sp>
      <p:pic>
        <p:nvPicPr>
          <p:cNvPr id="3" name="Picture 2" descr="slide-14.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6858000"/>
          </a:xfrm>
          <a:prstGeom prst="rect">
            <a:avLst/>
          </a:prstGeom>
          <a:noFill/>
        </p:spPr>
        <p:txBody>
          <a:bodyPr wrap="square">
            <a:spAutoFit/>
          </a:bodyPr>
          <a:lstStyle/>
          <a:p>
            <a:r>
              <a:t>Ten rules, each with a runbook and a reason to exist</a:t>
            </a:r>
          </a:p>
          <a:p>
            <a:pPr>
              <a:defRPr sz="1000"/>
            </a:pPr>
            <a:r>
              <a:t>13 · Application · alerting</a:t>
            </a:r>
          </a:p>
          <a:p>
            <a:pPr>
              <a:defRPr sz="1000"/>
            </a:pPr>
            <a:r>
              <a:t>Ten rules, each with a runbook and a reason to exist</a:t>
            </a:r>
          </a:p>
          <a:p>
            <a:pPr>
              <a:defRPr sz="1000"/>
            </a:pPr>
            <a:r>
              <a:t>Alert · Fires when · for · Severity · What it is really watching</a:t>
            </a:r>
          </a:p>
          <a:p>
            <a:pPr>
              <a:defRPr sz="1000"/>
            </a:pPr>
            <a:r>
              <a:t>APIDown · up == 0 · 1m · critical · the service is gone, or Prometheus lost it</a:t>
            </a:r>
          </a:p>
          <a:p>
            <a:pPr>
              <a:defRPr sz="1000"/>
            </a:pPr>
            <a:r>
              <a:t>ModelNotLoaded · ml_model_loaded == 0 · 1m · critical · process is alive but cannot answer — why /health and /ready are separate</a:t>
            </a:r>
          </a:p>
          <a:p>
            <a:pPr>
              <a:defRPr sz="1000"/>
            </a:pPr>
            <a:r>
              <a:t>HighErrorRate · 5xx &gt; 5% · 5m · critical · server faults only; 4xx is the client being wrong, not us</a:t>
            </a:r>
          </a:p>
          <a:p>
            <a:pPr>
              <a:defRPr sz="1000"/>
            </a:pPr>
            <a:r>
              <a:t>HighPredictionErrorRate · errors &gt; 5% · 5m · critical · the model failing, even while HTTP looks healthy</a:t>
            </a:r>
          </a:p>
          <a:p>
            <a:pPr>
              <a:defRPr sz="1000"/>
            </a:pPr>
            <a:r>
              <a:t>FairnessRegression · delta &gt; 0.10 · 5m · critical · the promotion threshold, re-checked in production</a:t>
            </a:r>
          </a:p>
          <a:p>
            <a:pPr>
              <a:defRPr sz="1000"/>
            </a:pPr>
            <a:r>
              <a:t>HighLatencyP95 · p95 &gt; 500ms · 5m · warning · 2.5× the SLO — slack before paging</a:t>
            </a:r>
          </a:p>
          <a:p>
            <a:pPr>
              <a:defRPr sz="1000"/>
            </a:pPr>
            <a:r>
              <a:t>DriftDetected · PSI &gt; 0.2 · 10m · warning · input distribution moving away from training</a:t>
            </a:r>
          </a:p>
          <a:p>
            <a:pPr>
              <a:defRPr sz="1000"/>
            </a:pPr>
            <a:r>
              <a:t>PredictionSkew · ±20pp vs prior · 15m · warning · output distribution moving, even if inputs did not</a:t>
            </a:r>
          </a:p>
          <a:p>
            <a:pPr>
              <a:defRPr sz="1000"/>
            </a:pPr>
            <a:r>
              <a:t>FairnessUnmeasured · delta == 0 while serving · 30m · info · a model shipped without the measurement — firing now, by design</a:t>
            </a:r>
          </a:p>
          <a:p>
            <a:pPr>
              <a:defRPr sz="1000"/>
            </a:pPr>
            <a:r>
              <a:t>ModelStale · 7 days since reload · 1h · info · nobody has retrained in a semester</a:t>
            </a:r>
          </a:p>
          <a:p>
            <a:pPr>
              <a:defRPr sz="1000"/>
            </a:pPr>
            <a:r>
              <a:t>severity is a promise</a:t>
            </a:r>
          </a:p>
          <a:p>
            <a:pPr>
              <a:defRPr sz="1000"/>
            </a:pPr>
            <a:r>
              <a:t>critical means someone is woken; warning means it is looked at today; info means it is a fact on a dashboard. The for column is what stops a spike from becoming a page.</a:t>
            </a:r>
          </a:p>
          <a:p>
            <a:pPr>
              <a:defRPr sz="1000"/>
            </a:pPr>
            <a:r>
              <a:t>each one carries a runbook</a:t>
            </a:r>
          </a:p>
          <a:p>
            <a:pPr>
              <a:defRPr sz="1000"/>
            </a:pPr>
            <a:r>
              <a:t>All 10/10 rules link to a section of docs/user-guide.md. An alert that says what broke but not what to do is a notification, not an alert.</a:t>
            </a:r>
          </a:p>
          <a:p>
            <a:pPr>
              <a:defRPr sz="1000"/>
            </a:pPr>
            <a:r>
              <a:t>two are firing right now</a:t>
            </a:r>
          </a:p>
          <a:p>
            <a:pPr>
              <a:defRPr sz="1000"/>
            </a:pPr>
            <a:r>
              <a:t>FairnessUnmeasured and DriftDetected — both because the imported model shipped without a fairness measurement or a drift reference. We chose to leave them loud rather than silence them.</a:t>
            </a:r>
          </a:p>
        </p:txBody>
      </p:sp>
      <p:pic>
        <p:nvPicPr>
          <p:cNvPr id="3" name="Picture 2" descr="slide-15.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6858000"/>
          </a:xfrm>
          <a:prstGeom prst="rect">
            <a:avLst/>
          </a:prstGeom>
          <a:noFill/>
        </p:spPr>
        <p:txBody>
          <a:bodyPr wrap="square">
            <a:spAutoFit/>
          </a:bodyPr>
          <a:lstStyle/>
          <a:p>
            <a:r>
              <a:t>The reference has to travel with the model</a:t>
            </a:r>
          </a:p>
          <a:p>
            <a:pPr>
              <a:defRPr sz="1000"/>
            </a:pPr>
            <a:r>
              <a:t>14 · Deep dive · monitoring</a:t>
            </a:r>
          </a:p>
          <a:p>
            <a:pPr>
              <a:defRPr sz="1000"/>
            </a:pPr>
            <a:r>
              <a:t>The reference has to travel with the model</a:t>
            </a:r>
          </a:p>
          <a:p>
            <a:pPr>
              <a:defRPr sz="1000"/>
            </a:pPr>
            <a:r>
              <a:t>PSI has a conventional reading, which is why the threshold is 0.2 rather than a number someone liked.</a:t>
            </a:r>
          </a:p>
          <a:p>
            <a:pPr>
              <a:defRPr sz="1000"/>
            </a:pPr>
            <a:r>
              <a:t>$ curl :9093/api/v2/alerts</a:t>
            </a:r>
          </a:p>
          <a:p>
            <a:pPr>
              <a:defRPr sz="1000"/>
            </a:pPr>
            <a:r>
              <a:t>DriftDetected warning active</a:t>
            </a:r>
          </a:p>
          <a:p>
            <a:pPr>
              <a:defRPr sz="1000"/>
            </a:pPr>
            <a:r>
              <a:t>Driven to FIRING for real with load_test.py --scenario drift, and confirmed received by Alertmanager — not just “the expression looks right”.</a:t>
            </a:r>
          </a:p>
          <a:p>
            <a:pPr>
              <a:defRPr sz="1000"/>
            </a:pPr>
            <a:r>
              <a:t>where it currently lies</a:t>
            </a:r>
          </a:p>
          <a:p>
            <a:pPr>
              <a:defRPr sz="1000"/>
            </a:pPr>
            <a:r>
              <a:t>The transformer we deployed shipped without a reference, so serving falls back to a placeholder distribution and PSI reads around 6 on perfectly normal traffic. The alert is real, the number is meaningless — the reference has to be rebuilt for the new model before it measures anything.</a:t>
            </a:r>
          </a:p>
        </p:txBody>
      </p:sp>
      <p:pic>
        <p:nvPicPr>
          <p:cNvPr id="3" name="Picture 2" descr="slide-16.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6858000"/>
          </a:xfrm>
          <a:prstGeom prst="rect">
            <a:avLst/>
          </a:prstGeom>
          <a:noFill/>
        </p:spPr>
        <p:txBody>
          <a:bodyPr wrap="square">
            <a:spAutoFit/>
          </a:bodyPr>
          <a:lstStyle/>
          <a:p>
            <a:r>
              <a:t>lint → type → test → build → scan → publish</a:t>
            </a:r>
          </a:p>
          <a:p>
            <a:pPr>
              <a:defRPr sz="1000"/>
            </a:pPr>
            <a:r>
              <a:t>15 · Deep dive · ci/cd</a:t>
            </a:r>
          </a:p>
          <a:p>
            <a:pPr>
              <a:defRPr sz="1000"/>
            </a:pPr>
            <a:r>
              <a:t>lint → type → test → build → scan → publish</a:t>
            </a:r>
          </a:p>
          <a:p>
            <a:pPr>
              <a:defRPr sz="1000"/>
            </a:pPr>
            <a:r>
              <a:t>3.10 · 3.11matrix</a:t>
            </a:r>
          </a:p>
          <a:p>
            <a:pPr>
              <a:defRPr sz="1000"/>
            </a:pPr>
            <a:r>
              <a:t>Trivyimage scan</a:t>
            </a:r>
          </a:p>
          <a:p>
            <a:pPr>
              <a:defRPr sz="1000"/>
            </a:pPr>
            <a:r>
              <a:t>SBOMcyclonedx</a:t>
            </a:r>
          </a:p>
          <a:p>
            <a:pPr>
              <a:defRPr sz="1000"/>
            </a:pPr>
            <a:r>
              <a:t>GHCRpublish on main</a:t>
            </a:r>
          </a:p>
          <a:p>
            <a:pPr>
              <a:defRPr sz="1000"/>
            </a:pPr>
            <a:r>
              <a:t>The publish job pulls the published image back and checks /ready — a broken publish fails in CI, not on someone else's machine</a:t>
            </a:r>
          </a:p>
          <a:p>
            <a:pPr>
              <a:defRPr sz="1000"/>
            </a:pPr>
            <a:r>
              <a:t>A nightly workflow runs the slow set and re-checks the fairness gate on a freshly trained model</a:t>
            </a:r>
          </a:p>
          <a:p>
            <a:pPr>
              <a:defRPr sz="1000"/>
            </a:pPr>
            <a:r>
              <a:t>Smoke tests run against the real Compose stack, not a mock</a:t>
            </a:r>
          </a:p>
          <a:p>
            <a:pPr>
              <a:defRPr sz="1000"/>
            </a:pPr>
            <a:r>
              <a:t>ci was stricter than our own command</a:t>
            </a:r>
          </a:p>
          <a:p>
            <a:pPr>
              <a:defRPr sz="1000"/>
            </a:pPr>
            <a:r>
              <a:t>The workflow hand-listed mypy and the type stubs while requirements-dev.txt pinned a different stubs version — so make typecheck passed locally and the build failed.</a:t>
            </a:r>
          </a:p>
          <a:p>
            <a:pPr>
              <a:defRPr sz="1000"/>
            </a:pPr>
            <a:r>
              <a:t>Two places pinning one toolchain is the bug. CI now installs from requirements-dev.txt, and the drift cannot recur.</a:t>
            </a:r>
          </a:p>
        </p:txBody>
      </p:sp>
      <p:pic>
        <p:nvPicPr>
          <p:cNvPr id="3" name="Picture 2" descr="slide-17.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6858000"/>
          </a:xfrm>
          <a:prstGeom prst="rect">
            <a:avLst/>
          </a:prstGeom>
          <a:noFill/>
        </p:spPr>
        <p:txBody>
          <a:bodyPr wrap="square">
            <a:spAutoFit/>
          </a:bodyPr>
          <a:lstStyle/>
          <a:p>
            <a:r>
              <a:t>Two sentences, one word apart</a:t>
            </a:r>
          </a:p>
          <a:p>
            <a:pPr>
              <a:defRPr sz="1000"/>
            </a:pPr>
            <a:r>
              <a:t>16 · Responsible AI · the measurement</a:t>
            </a:r>
          </a:p>
          <a:p>
            <a:pPr>
              <a:defRPr sz="1000"/>
            </a:pPr>
            <a:r>
              <a:t>Two sentences, one word apart</a:t>
            </a:r>
          </a:p>
          <a:p>
            <a:pPr>
              <a:defRPr sz="1000"/>
            </a:pPr>
            <a:r>
              <a:t>216 sentences · 60 comparable pairs · gender, region, seniority.</a:t>
            </a:r>
          </a:p>
          <a:p>
            <a:pPr>
              <a:defRPr sz="1000"/>
            </a:pPr>
            <a:r>
              <a:t>UIT-VSFC has no demographic columns — group-wise accuracy is impossible, because there is nobody to group by. So the probe interrogates the model, over HTTP against the deployed service, covering the real preprocessing and the real checkpoint.</a:t>
            </a:r>
          </a:p>
          <a:p>
            <a:pPr>
              <a:defRPr sz="1000"/>
            </a:pPr>
            <a:r>
              <a:t>The score compared is the continuous output, not the argmax label. Two sentences can share a label while the model is visibly less positive about one of them.</a:t>
            </a:r>
          </a:p>
          <a:p>
            <a:pPr>
              <a:defRPr sz="1000"/>
            </a:pPr>
            <a:r>
              <a:t>■ unmitigated   ■ after counterfactual augmentation  ·  identity blinding reaches exactly 0.0000 on every dimension, so it has no bar to draw.</a:t>
            </a:r>
          </a:p>
          <a:p>
            <a:pPr>
              <a:defRPr sz="1000"/>
            </a:pPr>
            <a:r>
              <a:t>the mitigation that failed</a:t>
            </a:r>
          </a:p>
          <a:p>
            <a:pPr>
              <a:defRPr sz="1000"/>
            </a:pPr>
            <a:r>
              <a:t>Counterfactual augmentation cut gender bias 79% and still failed the gate — region became the binding constraint at 0.1080.</a:t>
            </a:r>
          </a:p>
          <a:p>
            <a:pPr>
              <a:defRPr sz="1000"/>
            </a:pPr>
            <a:r>
              <a:t>why, measurably</a:t>
            </a:r>
          </a:p>
          <a:p>
            <a:pPr>
              <a:defRPr sz="1000"/>
            </a:pPr>
            <a:r>
              <a:t>Region terms appear 0 times in training data; thầy and cô appear in 23.9% and 11.1% of rows. Augmentation cannot teach words the model never saw.</a:t>
            </a:r>
          </a:p>
          <a:p>
            <a:pPr>
              <a:defRPr sz="1000"/>
            </a:pPr>
            <a:r>
              <a:t>what worked, and its cost</a:t>
            </a:r>
          </a:p>
          <a:p>
            <a:pPr>
              <a:defRPr sz="1000"/>
            </a:pPr>
            <a:r>
              <a:t>Blinding removes the terms before vectorising — exactly zero by construction. Cost: +0.0006 macro-F1. Free, which is itself the finding.</a:t>
            </a:r>
          </a:p>
        </p:txBody>
      </p:sp>
      <p:pic>
        <p:nvPicPr>
          <p:cNvPr id="3" name="Picture 2" descr="slide-18.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6858000"/>
          </a:xfrm>
          <a:prstGeom prst="rect">
            <a:avLst/>
          </a:prstGeom>
          <a:noFill/>
        </p:spPr>
        <p:txBody>
          <a:bodyPr wrap="square">
            <a:spAutoFit/>
          </a:bodyPr>
          <a:lstStyle/>
          <a:p>
            <a:r>
              <a:t>The model reads the concession</a:t>
            </a:r>
          </a:p>
          <a:p>
            <a:pPr>
              <a:defRPr sz="1000"/>
            </a:pPr>
            <a:r>
              <a:t>17 · Responsible AI · explainability &amp; ethics</a:t>
            </a:r>
          </a:p>
          <a:p>
            <a:pPr>
              <a:defRPr sz="1000"/>
            </a:pPr>
            <a:r>
              <a:t>The model reads the concession</a:t>
            </a:r>
          </a:p>
          <a:p>
            <a:pPr>
              <a:defRPr sz="1000"/>
            </a:pPr>
            <a:r>
              <a:t>"Giáo viên dạy rất hay nhưng</a:t>
            </a:r>
          </a:p>
          <a:p>
            <a:pPr>
              <a:defRPr sz="1000"/>
            </a:pPr>
            <a:r>
              <a:t>tài liệu sơ sài."</a:t>
            </a:r>
          </a:p>
          <a:p>
            <a:pPr>
              <a:defRPr sz="1000"/>
            </a:pPr>
            <a:r>
              <a:t>nhưng   −0.33</a:t>
            </a:r>
          </a:p>
          <a:p>
            <a:pPr>
              <a:defRPr sz="1000"/>
            </a:pPr>
            <a:r>
              <a:t>rất     +0.18</a:t>
            </a:r>
          </a:p>
          <a:p>
            <a:pPr>
              <a:defRPr sz="1000"/>
            </a:pPr>
            <a:r>
              <a:t>hay     +0.12</a:t>
            </a:r>
          </a:p>
          <a:p>
            <a:pPr>
              <a:defRPr sz="1000"/>
            </a:pPr>
            <a:r>
              <a:t>sơ      −0.10</a:t>
            </a:r>
          </a:p>
          <a:p>
            <a:pPr>
              <a:defRPr sz="1000"/>
            </a:pPr>
            <a:r>
              <a:t>→ negative</a:t>
            </a:r>
          </a:p>
          <a:p>
            <a:pPr>
              <a:defRPr sz="1000"/>
            </a:pPr>
            <a:r>
              <a:t>live, /api/v1/explain</a:t>
            </a:r>
          </a:p>
          <a:p>
            <a:pPr>
              <a:defRPr sz="1000"/>
            </a:pPr>
            <a:r>
              <a:t>LIME · local, live</a:t>
            </a:r>
          </a:p>
          <a:p>
            <a:pPr>
              <a:defRPr sz="1000"/>
            </a:pPr>
            <a:r>
              <a:t>Which tokens moved this decision. Rebuilt whenever a reload changes the model, so an explanation never describes a model that is no longer answering.</a:t>
            </a:r>
          </a:p>
          <a:p>
            <a:pPr>
              <a:defRPr sz="1000"/>
            </a:pPr>
            <a:r>
              <a:t>SHAP · global, offline</a:t>
            </a:r>
          </a:p>
          <a:p>
            <a:pPr>
              <a:defRPr sz="1000"/>
            </a:pPr>
            <a:r>
              <a:t>What the model relies on overall. Logged as an MLflow artifact per training run, with a chart per class.</a:t>
            </a:r>
          </a:p>
          <a:p>
            <a:pPr>
              <a:defRPr sz="1000"/>
            </a:pPr>
            <a:r>
              <a:t>what this system refuses to be used for</a:t>
            </a:r>
          </a:p>
          <a:p>
            <a:pPr>
              <a:defRPr sz="1000"/>
            </a:pPr>
            <a:r>
              <a:t>Evaluating an individual lecturer. A per-teacher score from a model with a measured identity gap, on sarcasm it cannot read, is a number that looks objective and is not — and employment consequences from it would be indefensible. This is aggregate triage, and docs/ETHICS.md says so before anyone asks.</a:t>
            </a:r>
          </a:p>
          <a:p>
            <a:pPr>
              <a:defRPr sz="1000"/>
            </a:pPr>
            <a:r>
              <a:t>Stated limitation. The Predictor protocol exposes one positive-class score, so LIME explains the positive-class probability rather than attributing across all three classes.</a:t>
            </a:r>
          </a:p>
        </p:txBody>
      </p:sp>
      <p:pic>
        <p:nvPicPr>
          <p:cNvPr id="3" name="Picture 2" descr="slide-19.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6858000"/>
          </a:xfrm>
          <a:prstGeom prst="rect">
            <a:avLst/>
          </a:prstGeom>
          <a:noFill/>
        </p:spPr>
        <p:txBody>
          <a:bodyPr wrap="square">
            <a:spAutoFit/>
          </a:bodyPr>
          <a:lstStyle/>
          <a:p>
            <a:r>
              <a:t>Every number here was re-measured, not quoted</a:t>
            </a:r>
          </a:p>
          <a:p>
            <a:pPr>
              <a:defRPr sz="1000"/>
            </a:pPr>
            <a:r>
              <a:t>18 · Results · measured, not claimed</a:t>
            </a:r>
          </a:p>
          <a:p>
            <a:pPr>
              <a:defRPr sz="1000"/>
            </a:pPr>
            <a:r>
              <a:t>Every number here was re-measured, not quoted</a:t>
            </a:r>
          </a:p>
          <a:p>
            <a:pPr>
              <a:defRPr sz="1000"/>
            </a:pPr>
            <a:r>
              <a:t>0.8457macro-F1</a:t>
            </a:r>
          </a:p>
          <a:p>
            <a:pPr>
              <a:defRPr sz="1000"/>
            </a:pPr>
            <a:r>
              <a:t>0.9416accuracy</a:t>
            </a:r>
          </a:p>
          <a:p>
            <a:pPr>
              <a:defRPr sz="1000"/>
            </a:pPr>
            <a:r>
              <a:t>98 msp95 latency</a:t>
            </a:r>
          </a:p>
          <a:p>
            <a:pPr>
              <a:defRPr sz="1000"/>
            </a:pPr>
            <a:r>
              <a:t>202tests · 91.8% cover</a:t>
            </a:r>
          </a:p>
          <a:p>
            <a:pPr>
              <a:defRPr sz="1000"/>
            </a:pPr>
            <a:r>
              <a:t>6/6services healthy</a:t>
            </a:r>
          </a:p>
          <a:p>
            <a:pPr>
              <a:defRPr sz="1000"/>
            </a:pPr>
            <a:r>
              <a:t>Model · macro-F1 · accuracy · size · How it got here</a:t>
            </a:r>
          </a:p>
          <a:p>
            <a:pPr>
              <a:defRPr sz="1000"/>
            </a:pPr>
            <a:r>
              <a:t>TF-IDF + LogReg · 0.7149 · 0.8629 · 0.6 MB · trained here, passed the gate, registry v2</a:t>
            </a:r>
          </a:p>
          <a:p>
            <a:pPr>
              <a:defRPr sz="1000"/>
            </a:pPr>
            <a:r>
              <a:t>XLM-RoBERTa · 0.8337 · 0.9359 · 1.1 GB · fine-tuned on Kaggle, imported</a:t>
            </a:r>
          </a:p>
          <a:p>
            <a:pPr>
              <a:defRPr sz="1000"/>
            </a:pPr>
            <a:r>
              <a:t>PhoBERT-v2 · 0.8457 · 0.9416 · 527 MB · fine-tuned on Kaggle, serving now</a:t>
            </a:r>
          </a:p>
          <a:p>
            <a:pPr>
              <a:defRPr sz="1000"/>
            </a:pPr>
            <a:r>
              <a:t>All three on the same 3,166-row held-out split. The winner is half the size of</a:t>
            </a:r>
          </a:p>
          <a:p>
            <a:pPr>
              <a:defRPr sz="1000"/>
            </a:pPr>
            <a:r>
              <a:t>the runner-up and 13 points of macro-F1 above the baseline it replaced.</a:t>
            </a:r>
          </a:p>
          <a:p>
            <a:pPr>
              <a:defRPr sz="1000"/>
            </a:pPr>
            <a:r>
              <a:t>what is demonstrably true</a:t>
            </a:r>
          </a:p>
          <a:p>
            <a:pPr>
              <a:defRPr sz="1000"/>
            </a:pPr>
            <a:r>
              <a:t>Six services healthy from one command · a versioned HTTP contract with 12/12 documented</a:t>
            </a:r>
          </a:p>
          <a:p>
            <a:pPr>
              <a:defRPr sz="1000"/>
            </a:pPr>
            <a:r>
              <a:t>schemas · admission control that sheds instead of queueing · 10 alert rules, one of them</a:t>
            </a:r>
          </a:p>
          <a:p>
            <a:pPr>
              <a:defRPr sz="1000"/>
            </a:pPr>
            <a:r>
              <a:t>driven to FIRING live · a promotion gate that has actually refused a model.</a:t>
            </a:r>
          </a:p>
          <a:p>
            <a:pPr>
              <a:defRPr sz="1000"/>
            </a:pPr>
            <a:r>
              <a:t>what we will not overclaim</a:t>
            </a:r>
          </a:p>
          <a:p>
            <a:pPr>
              <a:defRPr sz="1000"/>
            </a:pPr>
            <a:r>
              <a:t>The deployed transformer was imported, not gated — its fairness gap is</a:t>
            </a:r>
          </a:p>
          <a:p>
            <a:pPr>
              <a:defRPr sz="1000"/>
            </a:pPr>
            <a:r>
              <a:t>unmeasured. It ships no drift reference. Neither is hidden: both are firing alerts right</a:t>
            </a:r>
          </a:p>
          <a:p>
            <a:pPr>
              <a:defRPr sz="1000"/>
            </a:pPr>
            <a:r>
              <a:t>now, which is the behaviour we designed for.</a:t>
            </a:r>
          </a:p>
        </p:txBody>
      </p:sp>
      <p:pic>
        <p:nvPicPr>
          <p:cNvPr id="3" name="Picture 2" descr="slide-20.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6858000"/>
          </a:xfrm>
          <a:prstGeom prst="rect">
            <a:avLst/>
          </a:prstGeom>
          <a:noFill/>
        </p:spPr>
        <p:txBody>
          <a:bodyPr wrap="square">
            <a:spAutoFit/>
          </a:bodyPr>
          <a:lstStyle/>
          <a:p>
            <a:r>
              <a:t>Seven things we got wrong</a:t>
            </a:r>
          </a:p>
          <a:p>
            <a:pPr>
              <a:defRPr sz="1000"/>
            </a:pPr>
            <a:r>
              <a:t>19 · Retrospective</a:t>
            </a:r>
          </a:p>
          <a:p>
            <a:pPr>
              <a:defRPr sz="1000"/>
            </a:pPr>
            <a:r>
              <a:t>Seven things we got wrong</a:t>
            </a:r>
          </a:p>
          <a:p>
            <a:pPr>
              <a:defRPr sz="1000"/>
            </a:pPr>
            <a:r>
              <a:t>What · How it was caught · What changed</a:t>
            </a:r>
          </a:p>
          <a:p>
            <a:pPr>
              <a:defRPr sz="1000"/>
            </a:pPr>
            <a:r>
              <a:t>A macro-F1 ≥ 0.92 target · Written for balanced binary English, kept after the switch to 3-class Vietnamese · Reachable targets, both metrics required together</a:t>
            </a:r>
          </a:p>
          <a:p>
            <a:pPr>
              <a:defRPr sz="1000"/>
            </a:pPr>
            <a:r>
              <a:t>A probe measuring capitalisation · The “0.63 bias” was Thầy against a lowercase corpus · The probe is unit-tested against a known injected bias</a:t>
            </a:r>
          </a:p>
          <a:p>
            <a:pPr>
              <a:defRPr sz="1000"/>
            </a:pPr>
            <a:r>
              <a:t>Coverage over ¼ of the package · The omit list hid four modules · Narrowed; the real figure is 91%</a:t>
            </a:r>
          </a:p>
          <a:p>
            <a:pPr>
              <a:defRPr sz="1000"/>
            </a:pPr>
            <a:r>
              <a:t>Train/serve skew on a flag · The promotion gate — not code review · The flag travels in the artifact; regression test</a:t>
            </a:r>
          </a:p>
          <a:p>
            <a:pPr>
              <a:defRPr sz="1000"/>
            </a:pPr>
            <a:r>
              <a:t>CI stricter than make typecheck · A type error passed review and broke the build · One file pins the toolchain</a:t>
            </a:r>
          </a:p>
          <a:p>
            <a:pPr>
              <a:defRPr sz="1000"/>
            </a:pPr>
            <a:r>
              <a:t>Serving a model the shape it was never trained on · Re-measuring the new model instead of trusting its notebook · PhoBERT trains on Chủ đề: … | …; fed raw text it scores 0.7956 — worse than the model it replaced. The transform now travels in the model directory</a:t>
            </a:r>
          </a:p>
          <a:p>
            <a:pPr>
              <a:defRPr sz="1000"/>
            </a:pPr>
            <a:r>
              <a:t>A tokenizer that cannot be shared across threads · A load test — every unit test passed · Two parallel requests made all but one return 500. Tokenization is now locked; a regression test runs four threads</a:t>
            </a:r>
          </a:p>
          <a:p>
            <a:pPr>
              <a:defRPr sz="1000"/>
            </a:pPr>
            <a:r>
              <a:t>Each one is now a test or a config change — not a lesson we are trusting ourselves to remember.</a:t>
            </a:r>
          </a:p>
          <a:p>
            <a:pPr>
              <a:defRPr sz="1000"/>
            </a:pPr>
            <a:r>
              <a:t>the pattern</a:t>
            </a:r>
          </a:p>
          <a:p>
            <a:pPr>
              <a:defRPr sz="1000"/>
            </a:pPr>
            <a:r>
              <a:t>Four of the seven were caught by a gate, a build, a load test or a re-measurement — not by a person reading a diff. That is the argument for the whole architecture: humans miss things, so the system has to be the one that does not. The last two are the sharpest: both models looked fine to every unit test we had.</a:t>
            </a:r>
          </a:p>
        </p:txBody>
      </p:sp>
      <p:pic>
        <p:nvPicPr>
          <p:cNvPr id="3" name="Picture 2" descr="slide-21.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6858000"/>
          </a:xfrm>
          <a:prstGeom prst="rect">
            <a:avLst/>
          </a:prstGeom>
          <a:noFill/>
        </p:spPr>
        <p:txBody>
          <a:bodyPr wrap="square">
            <a:spAutoFit/>
          </a:bodyPr>
          <a:lstStyle/>
          <a:p>
            <a:r>
              <a:t>Seven commands against a running stack</a:t>
            </a:r>
          </a:p>
          <a:p>
            <a:pPr>
              <a:defRPr sz="1000"/>
            </a:pPr>
            <a:r>
              <a:t>20 · Live demo · 1:45</a:t>
            </a:r>
          </a:p>
          <a:p>
            <a:pPr>
              <a:defRPr sz="1000"/>
            </a:pPr>
            <a:r>
              <a:t>Seven commands against a running stack</a:t>
            </a:r>
          </a:p>
          <a:p>
            <a:pPr>
              <a:defRPr sz="1000"/>
            </a:pPr>
            <a:r>
              <a:t>1 docker compose ps ………………… six healthy services</a:t>
            </a:r>
          </a:p>
          <a:p>
            <a:pPr>
              <a:defRPr sz="1000"/>
            </a:pPr>
            <a:r>
              <a:t>2 curl /api/v1/model/info ………… phobert · v5 · Production</a:t>
            </a:r>
          </a:p>
          <a:p>
            <a:pPr>
              <a:defRPr sz="1000"/>
            </a:pPr>
            <a:r>
              <a:t>3 curl /api/v1/predict ……………… positive · negative · neutral</a:t>
            </a:r>
          </a:p>
          <a:p>
            <a:pPr>
              <a:defRPr sz="1000"/>
            </a:pPr>
            <a:r>
              <a:t>4 curl /api/v1/predict/batch ……… empty item isolated, batch survives</a:t>
            </a:r>
          </a:p>
          <a:p>
            <a:pPr>
              <a:defRPr sz="1000"/>
            </a:pPr>
            <a:r>
              <a:t>5 curl /api/v1/explain ……………… token attributions · 15–20s, wait for it</a:t>
            </a:r>
          </a:p>
          <a:p>
            <a:pPr>
              <a:defRPr sz="1000"/>
            </a:pPr>
            <a:r>
              <a:t>6 Grafana → Sentiment ………………… three dashboards, populated</a:t>
            </a:r>
          </a:p>
          <a:p>
            <a:pPr>
              <a:defRPr sz="1000"/>
            </a:pPr>
            <a:r>
              <a:t>7 load_test.py --scenario drift …… DriftDetected goes pending</a:t>
            </a:r>
          </a:p>
          <a:p>
            <a:pPr>
              <a:defRPr sz="1000"/>
            </a:pPr>
            <a:r>
              <a:t>rules we do not break</a:t>
            </a:r>
          </a:p>
          <a:p>
            <a:pPr>
              <a:defRPr sz="1000"/>
            </a:pPr>
            <a:r>
              <a:t>Pre-warm the stack. Never up --build in front of the room.</a:t>
            </a:r>
          </a:p>
          <a:p>
            <a:pPr>
              <a:defRPr sz="1000"/>
            </a:pPr>
            <a:r>
              <a:t>MLflow is on 5001. Port 5000 belongs to macOS AirPlay Receiver, which answers 403 while MLflow is perfectly healthy — so the stack publishes 5001 and nobody has to change a machine setting.</a:t>
            </a:r>
          </a:p>
          <a:p>
            <a:pPr>
              <a:defRPr sz="1000"/>
            </a:pPr>
            <a:r>
              <a:t>Start with API_CPU_LIMIT=6.0. On two CPUs one explanation takes 15–20 s; on six it takes about 4 s. Command 5 is the only one that makes the room wait.</a:t>
            </a:r>
          </a:p>
          <a:p>
            <a:pPr>
              <a:defRPr sz="1000"/>
            </a:pPr>
            <a:r>
              <a:t>handover</a:t>
            </a:r>
          </a:p>
          <a:p>
            <a:pPr>
              <a:defRPr sz="1000"/>
            </a:pPr>
            <a:r>
              <a:t>Sơn drives 1–5, Huỳnh drives 6–7. Agreed out loud before starting, so it does not get negotiated on stage.</a:t>
            </a:r>
          </a:p>
          <a:p>
            <a:pPr>
              <a:defRPr sz="1000"/>
            </a:pPr>
            <a:r>
              <a:t>Every response is saved as a fallback slide in a second window. The demo is the only part of this presentation that can fail publicly.</a:t>
            </a:r>
          </a:p>
        </p:txBody>
      </p:sp>
      <p:pic>
        <p:nvPicPr>
          <p:cNvPr id="3" name="Picture 2" descr="slide-22.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6858000"/>
          </a:xfrm>
          <a:prstGeom prst="rect">
            <a:avLst/>
          </a:prstGeom>
          <a:noFill/>
        </p:spPr>
        <p:txBody>
          <a:bodyPr wrap="square">
            <a:spAutoFit/>
          </a:bodyPr>
          <a:lstStyle/>
          <a:p>
            <a:r>
              <a:t>Cảm ơn.</a:t>
            </a:r>
          </a:p>
          <a:p>
            <a:pPr>
              <a:defRPr sz="1000"/>
            </a:pPr>
            <a:r>
              <a:t>Cảm ơn.</a:t>
            </a:r>
          </a:p>
          <a:p>
            <a:pPr>
              <a:defRPr sz="1000"/>
            </a:pPr>
            <a:r>
              <a:t>Questions — each member answers for their own area, and every claim in this</a:t>
            </a:r>
          </a:p>
          <a:p>
            <a:pPr>
              <a:defRPr sz="1000"/>
            </a:pPr>
            <a:r>
              <a:t>deck traces to a command you can run against the stack.</a:t>
            </a:r>
          </a:p>
          <a:p>
            <a:pPr>
              <a:defRPr sz="1000"/>
            </a:pPr>
            <a:r>
              <a:t>0.8457macro-F1, deployed</a:t>
            </a:r>
          </a:p>
          <a:p>
            <a:pPr>
              <a:defRPr sz="1000"/>
            </a:pPr>
            <a:r>
              <a:t>18:00as promised</a:t>
            </a:r>
          </a:p>
          <a:p>
            <a:pPr>
              <a:defRPr sz="1000"/>
            </a:pPr>
            <a:r>
              <a:t>Lý Minh Thông · Data &amp; Features</a:t>
            </a:r>
          </a:p>
          <a:p>
            <a:pPr>
              <a:defRPr sz="1000"/>
            </a:pPr>
            <a:r>
              <a:t>Dương Thành Duy · Training &amp; Experiments</a:t>
            </a:r>
          </a:p>
          <a:p>
            <a:pPr>
              <a:defRPr sz="1000"/>
            </a:pPr>
            <a:r>
              <a:t>Bùi Vân Sơn · Serving &amp; Containers</a:t>
            </a:r>
          </a:p>
          <a:p>
            <a:pPr>
              <a:defRPr sz="1000"/>
            </a:pPr>
            <a:r>
              <a:t>Lê Công Huỳnh · Monitoring &amp; CI/CD</a:t>
            </a:r>
          </a:p>
          <a:p>
            <a:pPr>
              <a:defRPr sz="1000"/>
            </a:pPr>
            <a:r>
              <a:t>Thái Bình Nhiên · Responsible AI &amp; Docs</a:t>
            </a:r>
          </a:p>
          <a:p>
            <a:pPr>
              <a:defRPr sz="1000"/>
            </a:pPr>
            <a:r>
              <a:t>everything is in the repository</a:t>
            </a:r>
          </a:p>
          <a:p>
            <a:pPr>
              <a:defRPr sz="1000"/>
            </a:pPr>
            <a:r>
              <a:t>README.md to run it · ARCHITECTURE.md for the diagrams</a:t>
            </a:r>
          </a:p>
          <a:p>
            <a:pPr>
              <a:defRPr sz="1000"/>
            </a:pPr>
            <a:r>
              <a:t>docs/QA_PREP.md for the questions we prepared for.</a:t>
            </a:r>
          </a:p>
        </p:txBody>
      </p:sp>
      <p:pic>
        <p:nvPicPr>
          <p:cNvPr id="3" name="Picture 2" descr="slide-23.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